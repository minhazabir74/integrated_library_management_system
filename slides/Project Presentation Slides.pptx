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60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0"/>
            <a:ext cx="1371600" cy="5143500"/>
          </a:xfrm>
          <a:prstGeom prst="rect">
            <a:avLst/>
          </a:prstGeom>
          <a:solidFill>
            <a:srgbClr val="1B3A6B">
              <a:alpha val="80000"/>
            </a:srgbClr>
          </a:solidFill>
          <a:ln w="12700">
            <a:solidFill>
              <a:srgbClr val="1B3A6B">
                <a:alpha val="8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 w="12700">
            <a:solidFill>
              <a:srgbClr val="0A1628">
                <a:alpha val="6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914400"/>
            <a:ext cx="64008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914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LIBRARY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14630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85800" y="2697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ILMS — Primeasia University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090672"/>
            <a:ext cx="3200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7452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3547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74520" y="3547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Halima </a:t>
            </a:r>
            <a:r>
              <a:rPr lang="en-US" sz="10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Mowla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" y="38953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874520" y="3895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CSE, Primeasia University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42428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874520" y="42428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May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87">
        <p159:morph option="byObject"/>
      </p:transition>
    </mc:Choice>
    <mc:Fallback xmlns="">
      <p:transition spd="slow" advTm="398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3" name="Title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</a:rPr>
              <a:t>TECHNOLOGIES USED</a:t>
            </a:r>
          </a:p>
        </p:txBody>
      </p:sp>
      <p:sp>
        <p:nvSpPr>
          <p:cNvPr id="4" name="PHPBg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5" name="PHPTitle"/>
          <p:cNvSpPr/>
          <p:nvPr/>
        </p:nvSpPr>
        <p:spPr>
          <a:xfrm>
            <a:off x="457200" y="10972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dirty="0">
                <a:solidFill>
                  <a:srgbClr val="F59E0B"/>
                </a:solidFill>
                <a:latin typeface="Calibri" pitchFamily="34" charset="0"/>
              </a:rPr>
              <a:t>PHP</a:t>
            </a:r>
          </a:p>
        </p:txBody>
      </p:sp>
      <p:sp>
        <p:nvSpPr>
          <p:cNvPr id="6" name="PHPSub"/>
          <p:cNvSpPr/>
          <p:nvPr/>
        </p:nvSpPr>
        <p:spPr>
          <a:xfrm>
            <a:off x="45720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</a:rPr>
              <a:t>Server-Side Scripting</a:t>
            </a:r>
          </a:p>
        </p:txBody>
      </p:sp>
      <p:sp>
        <p:nvSpPr>
          <p:cNvPr id="7" name="PHPPoints"/>
          <p:cNvSpPr/>
          <p:nvPr/>
        </p:nvSpPr>
        <p:spPr>
          <a:xfrm>
            <a:off x="45720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Backend logic &amp; DB queries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Session management &amp; auth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REST API &amp; form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MySQL integration for ILMS data</a:t>
            </a:r>
          </a:p>
        </p:txBody>
      </p:sp>
      <p:sp>
        <p:nvSpPr>
          <p:cNvPr id="8" name="HTMLBg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</p:sp>
      <p:sp>
        <p:nvSpPr>
          <p:cNvPr id="9" name="HTMLTitle"/>
          <p:cNvSpPr/>
          <p:nvPr/>
        </p:nvSpPr>
        <p:spPr>
          <a:xfrm>
            <a:off x="3383280" y="10972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dirty="0">
                <a:solidFill>
                  <a:srgbClr val="0891B2"/>
                </a:solidFill>
                <a:latin typeface="Calibri" pitchFamily="34" charset="0"/>
              </a:rPr>
              <a:t>HTML</a:t>
            </a:r>
          </a:p>
        </p:txBody>
      </p:sp>
      <p:sp>
        <p:nvSpPr>
          <p:cNvPr id="10" name="HTMLSub"/>
          <p:cNvSpPr/>
          <p:nvPr/>
        </p:nvSpPr>
        <p:spPr>
          <a:xfrm>
            <a:off x="338328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</a:rPr>
              <a:t>Markup &amp; Structure</a:t>
            </a:r>
          </a:p>
        </p:txBody>
      </p:sp>
      <p:sp>
        <p:nvSpPr>
          <p:cNvPr id="11" name="HTMLPoints"/>
          <p:cNvSpPr/>
          <p:nvPr/>
        </p:nvSpPr>
        <p:spPr>
          <a:xfrm>
            <a:off x="338328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</a:rPr>
              <a:t>• Page structure &amp; layout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</a:rPr>
              <a:t>• Forms for book search &amp; borrow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</a:rPr>
              <a:t>• Tables for member &amp; book lists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</a:rPr>
              <a:t>• Semantic HTML5 for accessibility</a:t>
            </a:r>
          </a:p>
        </p:txBody>
      </p:sp>
      <p:sp>
        <p:nvSpPr>
          <p:cNvPr id="12" name="CSSBg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13" name="CSSTitle"/>
          <p:cNvSpPr/>
          <p:nvPr/>
        </p:nvSpPr>
        <p:spPr>
          <a:xfrm>
            <a:off x="6309360" y="10972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dirty="0">
                <a:solidFill>
                  <a:srgbClr val="F59E0B"/>
                </a:solidFill>
                <a:latin typeface="Calibri" pitchFamily="34" charset="0"/>
              </a:rPr>
              <a:t>CSS</a:t>
            </a:r>
          </a:p>
        </p:txBody>
      </p:sp>
      <p:sp>
        <p:nvSpPr>
          <p:cNvPr id="14" name="CSSSub"/>
          <p:cNvSpPr/>
          <p:nvPr/>
        </p:nvSpPr>
        <p:spPr>
          <a:xfrm>
            <a:off x="630936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</a:rPr>
              <a:t>Styling &amp; Visual Design</a:t>
            </a:r>
          </a:p>
        </p:txBody>
      </p:sp>
      <p:sp>
        <p:nvSpPr>
          <p:cNvPr id="15" name="CSSPoints"/>
          <p:cNvSpPr/>
          <p:nvPr/>
        </p:nvSpPr>
        <p:spPr>
          <a:xfrm>
            <a:off x="6309360" y="18288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Responsive layout for all devices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Styled dashboards &amp; admin panels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CSS3 animations &amp; transitions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</a:rPr>
              <a:t>• Consistent UI across all pages</a:t>
            </a:r>
          </a:p>
        </p:txBody>
      </p:sp>
      <p:sp>
        <p:nvSpPr>
          <p:cNvPr id="16" name="FooterText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Frontend stack powering ILMS — HTML for structure, CSS for styling, PHP for server-side logic &amp; database integration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503">
        <p159:morph option="byObject"/>
      </p:transition>
    </mc:Choice>
    <mc:Fallback xmlns="">
      <p:transition spd="slow" advTm="450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traditionally relied on physical registers and card catalogs. This project transitions all operations into a robust relational database system, ensuring data integrity, security, and efficient retrieval for Primeasia University.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PROBLEMS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2186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004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redundancy &amp; inconsistency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570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38728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overdue tracking &amp; fine calculation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953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770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search mechanisms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336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15384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backup, high physical storage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72768"/>
            <a:ext cx="347472" cy="34747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21808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21808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issuance, returns &amp; fine calculations</a:t>
            </a:r>
            <a:endParaRPr lang="en-US" sz="10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22576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21808" y="23225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321808" y="2578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repository for books &amp; members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07238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21808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Optimize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321808" y="3328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title, ISBN, genre &amp; more</a:t>
            </a:r>
            <a:endParaRPr lang="en-US" sz="10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82219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21808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321808" y="40782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(Admin &amp; Member)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503">
        <p159:morph option="byObject"/>
      </p:transition>
    </mc:Choice>
    <mc:Fallback xmlns="">
      <p:transition spd="slow" advTm="4503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FUNCTIONAL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57276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role-based login (Admin/Member)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07568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57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catalog: Add, Edit, Delete,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57860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request submission &amp; Admin approval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08152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processing &amp; fine auto-calculation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58444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66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book availability &amp; stock tracking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4087368"/>
            <a:ext cx="20116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history &amp; transaction reports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4114800" cy="43891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424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NON-FUNCTIONAL REQUIREMENTS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5727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15727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query response &lt; 2 seconds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04825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756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20756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passwords, RBAC enforced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255117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57860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25786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1000+ members &amp; books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05409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815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44768" y="30815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uptime, daily DB backups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355701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58444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44768" y="35844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UI for non-technical users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405993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087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44768" y="40873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&amp; Linux compatible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85">
        <p159:morph option="byObject"/>
      </p:transition>
    </mc:Choice>
    <mc:Fallback xmlns="">
      <p:transition spd="slow" advTm="398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51560"/>
            <a:ext cx="731520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0972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PHP 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856232"/>
            <a:ext cx="731520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019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945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Business Logic &amp; Controllers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60904"/>
            <a:ext cx="73152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2706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9992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— Relational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709928"/>
            <a:ext cx="2743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2514600"/>
            <a:ext cx="2743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73736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Borrow/Return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3749040"/>
            <a:ext cx="1325880" cy="1051560"/>
          </a:xfrm>
          <a:prstGeom prst="roundRect">
            <a:avLst>
              <a:gd name="adj" fmla="val 8696"/>
            </a:avLst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41148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461">
        <p159:morph option="byObject"/>
      </p:transition>
    </mc:Choice>
    <mc:Fallback xmlns="">
      <p:transition spd="slow" advTm="446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0" y="228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Schema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68680"/>
            <a:ext cx="877824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116">
        <p159:morph option="byObject"/>
      </p:transition>
    </mc:Choice>
    <mc:Fallback xmlns="">
      <p:transition spd="slow" advTm="411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834640" cy="43891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96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865376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340864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68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816352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291840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767328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total_borrowed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4242816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0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total_fine_paid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868680"/>
            <a:ext cx="283464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896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55848" y="1389888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1865376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2340864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2368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55848" y="2816352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55848" y="3291840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55848" y="3767328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added_date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86868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868680"/>
            <a:ext cx="28346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8961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BORROW_REQUESTS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27648" y="1389888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1417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27648" y="1865376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27648" y="2340864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2368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 (FK)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27648" y="2816352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28437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27648" y="3291840"/>
            <a:ext cx="2615184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27648" y="3767328"/>
            <a:ext cx="261518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991">
        <p159:morph option="byObject"/>
      </p:transition>
    </mc:Choice>
    <mc:Fallback xmlns="">
      <p:transition spd="slow" advTm="399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00200" y="140360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00584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005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40360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566160" y="1188720"/>
            <a:ext cx="1234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170432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140360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00584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005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Request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140360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0584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100584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27432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7432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314096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27432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7432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14096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7432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7432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63240" y="314096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27432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27432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417320" y="3140964"/>
            <a:ext cx="41148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2743200"/>
            <a:ext cx="1417320" cy="868680"/>
          </a:xfrm>
          <a:prstGeom prst="roundRect">
            <a:avLst>
              <a:gd name="adj" fmla="val 12632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27432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68312" y="1874520"/>
            <a:ext cx="73152" cy="7498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325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47872" y="18928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46120" y="2057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2057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Not Available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Browse Again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019">
        <p159:morph option="byObject"/>
      </p:transition>
    </mc:Choice>
    <mc:Fallback xmlns="">
      <p:transition spd="slow" advTm="4019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05740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0574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6400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Structure &amp; markup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6400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 &amp; layout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6400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260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Interactivity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868680"/>
            <a:ext cx="205740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868680"/>
            <a:ext cx="20574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896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1463040"/>
            <a:ext cx="640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463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Server-side scripting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2194560"/>
            <a:ext cx="640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945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Client-server comm.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926080"/>
            <a:ext cx="6400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9260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— Auth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868680"/>
            <a:ext cx="205740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868680"/>
            <a:ext cx="20574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896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6400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63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 — RDBMS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94560"/>
            <a:ext cx="6400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945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Queries &amp; procedures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6400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260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Normalized Schema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868680"/>
            <a:ext cx="2057400" cy="3931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12280" y="868680"/>
            <a:ext cx="2057400" cy="4572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89611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1463040"/>
            <a:ext cx="64008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146304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Dual-core 2.0 GHz+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64008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219456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4 GB minimum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49440" y="2926080"/>
            <a:ext cx="64008" cy="402336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92608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100 MB for DB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231">
        <p159:morph option="byObject"/>
      </p:transition>
    </mc:Choice>
    <mc:Fallback xmlns="">
      <p:transition spd="slow" advTm="423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103120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8686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ER Modeling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011680"/>
            <a:ext cx="54864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51760"/>
            <a:ext cx="18745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system scope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03120"/>
            <a:ext cx="365760" cy="3657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8686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914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99232" y="1298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Normalization &amp; SQL Implementation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2011680"/>
            <a:ext cx="54864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2651760"/>
            <a:ext cx="18745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DB tables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210312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8686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914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10912" y="1298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&amp; Query Optimization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06440" y="2011680"/>
            <a:ext cx="54864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651760"/>
            <a:ext cx="18745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backend logic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868680"/>
            <a:ext cx="1874520" cy="1143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9144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22592" y="1298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 &amp; Final Testing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818120" y="2011680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651760"/>
            <a:ext cx="1874520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651760"/>
            <a:ext cx="1874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test &amp; deploy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25">
        <p159:morph option="byObject"/>
      </p:transition>
    </mc:Choice>
    <mc:Fallback xmlns="">
      <p:transition spd="slow" advTm="3825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30352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EXPECTED OUTCOMES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371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relational schema with referential integrity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116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99339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interface for librarians to manage inventory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63347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6151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fine calculation &amp; overdue reports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5526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323697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reduction in administrative overhead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7705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7240" y="38587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 for future digital enhancements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5852160" y="868680"/>
            <a:ext cx="3017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5852160" y="868680"/>
            <a:ext cx="30175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961888" y="89611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961888" y="13716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fine logic edge cases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961888" y="180136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Concurrency in stock updates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961888" y="223113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Ensuring RBAC security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852160" y="2907792"/>
            <a:ext cx="301752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852160" y="2907792"/>
            <a:ext cx="3017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961888" y="293522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961888" y="340156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E-book &amp; digital resource support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961888" y="3831336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SMS / Email auto-notifications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961888" y="4261104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AI-powered book recommendations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883">
        <p159:morph option="byObject"/>
      </p:transition>
    </mc:Choice>
    <mc:Fallback xmlns="">
      <p:transition spd="slow" advTm="3883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>
                <a:alpha val="8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97280" y="548640"/>
            <a:ext cx="6949440" cy="4114800"/>
          </a:xfrm>
          <a:prstGeom prst="rect">
            <a:avLst/>
          </a:prstGeom>
          <a:solidFill>
            <a:srgbClr val="1B3A6B">
              <a:alpha val="8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280160" y="7772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0" y="138988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Library Management System (ILMS) represents a vital step toward fully digitizing academic library operations. By leveraging a well-designed relational database and a clean PHP-based interface, the system will eliminate manual errors, centralize data, and provide a scalable foundation for future enhancements such as e-book integration and automated notification systems.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28800" y="3337560"/>
            <a:ext cx="1371600" cy="109728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34015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28800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Effort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31920" y="3337560"/>
            <a:ext cx="1371600" cy="109728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34015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931920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3337560"/>
            <a:ext cx="1371600" cy="1097280"/>
          </a:xfrm>
          <a:prstGeom prst="ellipse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340156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35040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80160" y="44805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Primeasia University  •  CSE Department  •  May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307">
        <p159:morph option="byObject"/>
      </p:transition>
    </mc:Choice>
    <mc:Fallback xmlns="">
      <p:transition spd="slow" advTm="4307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1628">
                <a:alpha val="9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7" name="Shape 4"/>
          <p:cNvSpPr/>
          <p:nvPr/>
        </p:nvSpPr>
        <p:spPr>
          <a:xfrm>
            <a:off x="2926080" y="2057400"/>
            <a:ext cx="329184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76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&amp; attention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743200" y="2816352"/>
            <a:ext cx="3657600" cy="658368"/>
          </a:xfrm>
          <a:prstGeom prst="roundRect">
            <a:avLst>
              <a:gd name="adj" fmla="val 48611"/>
            </a:avLst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281635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Library Management System  (ILMS)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Department  •  Primeasia University  •  May 2026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4434840"/>
            <a:ext cx="411480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592">
        <p159:morph option="byObject"/>
      </p:transition>
    </mc:Choice>
    <mc:Fallback xmlns="">
      <p:transition spd="slow" advTm="4592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761</Words>
  <Application>Microsoft Office PowerPoint</Application>
  <PresentationFormat>On-screen Show (16:9)</PresentationFormat>
  <Paragraphs>207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Integrated Library Management System</dc:title>
  <dc:subject>PptxGenJS Presentation</dc:subject>
  <dc:creator>PptxGenJS</dc:creator>
  <cp:lastModifiedBy>Omar Minhaz Abir</cp:lastModifiedBy>
  <cp:revision>6</cp:revision>
  <dcterms:created xsi:type="dcterms:W3CDTF">2026-05-12T20:53:19Z</dcterms:created>
  <dcterms:modified xsi:type="dcterms:W3CDTF">2026-05-13T09:11:12Z</dcterms:modified>
</cp:coreProperties>
</file>